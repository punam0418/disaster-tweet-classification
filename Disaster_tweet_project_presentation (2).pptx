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01" autoAdjust="0"/>
    <p:restoredTop sz="89744" autoAdjust="0"/>
  </p:normalViewPr>
  <p:slideViewPr>
    <p:cSldViewPr snapToGrid="0" snapToObjects="1">
      <p:cViewPr>
        <p:scale>
          <a:sx n="1" d="2"/>
          <a:sy n="1" d="2"/>
        </p:scale>
        <p:origin x="648" y="4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9DE5C-1F24-4D69-9E29-AC12BA5F42B2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F503F-F912-439D-A2FE-177F5F1D2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52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5F503F-F912-439D-A2FE-177F5F1D2B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44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1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7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27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9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7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8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86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3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7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8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7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55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6604"/>
            <a:ext cx="9144000" cy="1262795"/>
          </a:xfrm>
        </p:spPr>
        <p:txBody>
          <a:bodyPr>
            <a:noAutofit/>
          </a:bodyPr>
          <a:lstStyle/>
          <a:p>
            <a:pPr algn="ctr"/>
            <a:r>
              <a:rPr sz="4400" b="1" i="1" dirty="0"/>
              <a:t>Disaster Tweet Classification Using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r>
              <a:rPr sz="2800" b="1" u="sng" dirty="0"/>
              <a:t>Technologies</a:t>
            </a:r>
            <a:r>
              <a:rPr sz="2800" dirty="0"/>
              <a:t>: Python, TF‑IDF, Logistic Regression, </a:t>
            </a:r>
            <a:r>
              <a:rPr lang="en-US" sz="2800" dirty="0" smtClean="0"/>
              <a:t>              		    </a:t>
            </a:r>
            <a:r>
              <a:rPr sz="2800" dirty="0" smtClean="0"/>
              <a:t>Flask</a:t>
            </a:r>
            <a:endParaRPr sz="2800" dirty="0"/>
          </a:p>
          <a:p>
            <a:endParaRPr sz="2400" dirty="0"/>
          </a:p>
          <a:p>
            <a:pPr marL="1071400" lvl="6" indent="0">
              <a:buNone/>
            </a:pPr>
            <a:r>
              <a:rPr lang="en-US" sz="1600" dirty="0" smtClean="0"/>
              <a:t>					</a:t>
            </a:r>
          </a:p>
          <a:p>
            <a:pPr marL="1071400" lvl="6" indent="0">
              <a:buNone/>
            </a:pPr>
            <a:endParaRPr lang="en-US" sz="1600" dirty="0"/>
          </a:p>
          <a:p>
            <a:pPr marL="1071400" lvl="6" indent="0">
              <a:buNone/>
            </a:pPr>
            <a:endParaRPr lang="en-US" sz="1600" dirty="0" smtClean="0"/>
          </a:p>
          <a:p>
            <a:pPr marL="1071400" lvl="6" indent="0">
              <a:buNone/>
            </a:pPr>
            <a:endParaRPr lang="en-US" sz="1600" dirty="0"/>
          </a:p>
          <a:p>
            <a:pPr marL="1071400" lvl="6" indent="0">
              <a:buNone/>
            </a:pPr>
            <a:r>
              <a:rPr lang="en-US" sz="1600" dirty="0" smtClean="0"/>
              <a:t>		</a:t>
            </a:r>
          </a:p>
          <a:p>
            <a:pPr marL="1071400" lvl="6" indent="0">
              <a:buNone/>
            </a:pPr>
            <a:endParaRPr lang="en-US" sz="1600" dirty="0"/>
          </a:p>
          <a:p>
            <a:pPr marL="1071400" lvl="6" indent="0">
              <a:buNone/>
            </a:pPr>
            <a:r>
              <a:rPr lang="en-US" sz="1600" dirty="0" smtClean="0"/>
              <a:t>		</a:t>
            </a:r>
          </a:p>
          <a:p>
            <a:pPr marL="1071400" lvl="6" indent="0">
              <a:buNone/>
            </a:pPr>
            <a:endParaRPr lang="en-US" sz="1600" dirty="0"/>
          </a:p>
          <a:p>
            <a:pPr marL="1071400" lvl="6" indent="0">
              <a:buNone/>
            </a:pPr>
            <a:r>
              <a:rPr lang="en-US" sz="1600" dirty="0" smtClean="0"/>
              <a:t>					            </a:t>
            </a:r>
            <a:r>
              <a:rPr sz="1600" dirty="0" smtClean="0"/>
              <a:t>Punam </a:t>
            </a:r>
            <a:r>
              <a:rPr sz="1600" dirty="0" err="1"/>
              <a:t>Sonawane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The goal of this project is to classify whether a tweet is related to a disaster or not using Natural Language Processing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• Analyze Twitter text data</a:t>
            </a:r>
          </a:p>
          <a:p>
            <a:r>
              <a:rPr sz="2800" dirty="0"/>
              <a:t>• Build a machine learning model to classify tweets</a:t>
            </a:r>
          </a:p>
          <a:p>
            <a:r>
              <a:rPr sz="2800" dirty="0"/>
              <a:t>• Deploy the model using a Flask web application</a:t>
            </a:r>
          </a:p>
          <a:p>
            <a:r>
              <a:rPr sz="2800" dirty="0"/>
              <a:t>• Allow users to input tweets and get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Dataset: </a:t>
            </a:r>
            <a:r>
              <a:rPr sz="2800" dirty="0"/>
              <a:t>Twitter Disaster Dataset</a:t>
            </a:r>
          </a:p>
          <a:p>
            <a:r>
              <a:rPr sz="2800" b="1" dirty="0"/>
              <a:t>Total Records: </a:t>
            </a:r>
            <a:r>
              <a:rPr sz="2800" dirty="0"/>
              <a:t>7613</a:t>
            </a:r>
          </a:p>
          <a:p>
            <a:r>
              <a:rPr sz="2800" b="1" dirty="0"/>
              <a:t>Columns: </a:t>
            </a:r>
            <a:r>
              <a:rPr sz="2800" dirty="0"/>
              <a:t>id, keyword, location, text, target</a:t>
            </a:r>
          </a:p>
          <a:p>
            <a:r>
              <a:rPr sz="2800" b="1" dirty="0"/>
              <a:t>Target</a:t>
            </a:r>
            <a:r>
              <a:rPr sz="2800" b="1" dirty="0" smtClean="0"/>
              <a:t>:</a:t>
            </a:r>
            <a:endParaRPr lang="en-US" sz="2800" b="1" dirty="0" smtClean="0"/>
          </a:p>
          <a:p>
            <a:pPr lvl="1"/>
            <a:r>
              <a:rPr sz="2600" dirty="0" smtClean="0"/>
              <a:t> </a:t>
            </a:r>
            <a:r>
              <a:rPr sz="2600" dirty="0"/>
              <a:t>1 = Disaster Tweet, </a:t>
            </a:r>
            <a:endParaRPr lang="en-US" sz="2600" dirty="0"/>
          </a:p>
          <a:p>
            <a:pPr lvl="1"/>
            <a:r>
              <a:rPr lang="en-US" sz="2600" dirty="0" smtClean="0"/>
              <a:t> </a:t>
            </a:r>
            <a:r>
              <a:rPr sz="2800" dirty="0" smtClean="0"/>
              <a:t>0 </a:t>
            </a:r>
            <a:r>
              <a:rPr sz="2800" dirty="0"/>
              <a:t>= Non‑Disaster Tweet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• pandas – data manipulation</a:t>
            </a:r>
          </a:p>
          <a:p>
            <a:r>
              <a:rPr sz="2800" dirty="0"/>
              <a:t>• </a:t>
            </a:r>
            <a:r>
              <a:rPr sz="2800" dirty="0" err="1"/>
              <a:t>numpy</a:t>
            </a:r>
            <a:r>
              <a:rPr sz="2800" dirty="0"/>
              <a:t> – numerical operations</a:t>
            </a:r>
          </a:p>
          <a:p>
            <a:r>
              <a:rPr sz="2800" dirty="0"/>
              <a:t>• </a:t>
            </a:r>
            <a:r>
              <a:rPr sz="2800" dirty="0" err="1"/>
              <a:t>matplotlib</a:t>
            </a:r>
            <a:r>
              <a:rPr sz="2800" dirty="0"/>
              <a:t> &amp; </a:t>
            </a:r>
            <a:r>
              <a:rPr sz="2800" dirty="0" err="1"/>
              <a:t>seaborn</a:t>
            </a:r>
            <a:r>
              <a:rPr sz="2800" dirty="0"/>
              <a:t> – visualization</a:t>
            </a:r>
          </a:p>
          <a:p>
            <a:r>
              <a:rPr sz="2800" dirty="0"/>
              <a:t>• </a:t>
            </a:r>
            <a:r>
              <a:rPr sz="2800" dirty="0" err="1"/>
              <a:t>scikit</a:t>
            </a:r>
            <a:r>
              <a:rPr sz="2800" dirty="0"/>
              <a:t>‑learn – machine learning</a:t>
            </a:r>
          </a:p>
          <a:p>
            <a:r>
              <a:rPr sz="2800" dirty="0"/>
              <a:t>• flask – web application framework</a:t>
            </a:r>
          </a:p>
          <a:p>
            <a:r>
              <a:rPr sz="2800" dirty="0"/>
              <a:t>• pickle – model saving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Loading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Code:</a:t>
            </a:r>
          </a:p>
          <a:p>
            <a:r>
              <a:rPr sz="2800" dirty="0" err="1"/>
              <a:t>df</a:t>
            </a:r>
            <a:r>
              <a:rPr sz="2800" dirty="0"/>
              <a:t> = </a:t>
            </a:r>
            <a:r>
              <a:rPr sz="2800" dirty="0" err="1"/>
              <a:t>pd.read_csv</a:t>
            </a:r>
            <a:r>
              <a:rPr sz="2800" dirty="0" smtClean="0"/>
              <a:t>('</a:t>
            </a:r>
            <a:r>
              <a:rPr lang="en-US" sz="2800" dirty="0"/>
              <a:t>C:\Users\HP\Downloads\</a:t>
            </a:r>
            <a:r>
              <a:rPr lang="en-US" sz="2800" dirty="0" err="1"/>
              <a:t>twitter_disaster</a:t>
            </a:r>
            <a:r>
              <a:rPr lang="en-US" sz="2800" dirty="0"/>
              <a:t> (1).csv</a:t>
            </a:r>
            <a:r>
              <a:rPr sz="2800" dirty="0" smtClean="0"/>
              <a:t>')</a:t>
            </a:r>
            <a:endParaRPr sz="2800" dirty="0"/>
          </a:p>
          <a:p>
            <a:endParaRPr sz="2800" dirty="0"/>
          </a:p>
          <a:p>
            <a:r>
              <a:rPr sz="2800" b="1" dirty="0"/>
              <a:t>Purpose:</a:t>
            </a:r>
          </a:p>
          <a:p>
            <a:r>
              <a:rPr sz="2800" dirty="0"/>
              <a:t>Load the dataset into a pandas </a:t>
            </a:r>
            <a:r>
              <a:rPr sz="2800" dirty="0" err="1"/>
              <a:t>DataFrame</a:t>
            </a:r>
            <a:r>
              <a:rPr sz="2800" dirty="0"/>
              <a:t> for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Understanding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b="1" dirty="0"/>
              <a:t>Functions Used:</a:t>
            </a:r>
          </a:p>
          <a:p>
            <a:r>
              <a:rPr sz="2800" dirty="0"/>
              <a:t>• </a:t>
            </a:r>
            <a:r>
              <a:rPr sz="2800" dirty="0" err="1"/>
              <a:t>df.shape</a:t>
            </a:r>
            <a:endParaRPr sz="2800" dirty="0"/>
          </a:p>
          <a:p>
            <a:r>
              <a:rPr sz="2800" dirty="0"/>
              <a:t>• df.info()</a:t>
            </a:r>
          </a:p>
          <a:p>
            <a:r>
              <a:rPr sz="2800" dirty="0"/>
              <a:t>• </a:t>
            </a:r>
            <a:r>
              <a:rPr sz="2800" dirty="0" err="1"/>
              <a:t>df.describe</a:t>
            </a:r>
            <a:r>
              <a:rPr sz="2800" dirty="0"/>
              <a:t>()</a:t>
            </a:r>
          </a:p>
          <a:p>
            <a:endParaRPr sz="2800" dirty="0"/>
          </a:p>
          <a:p>
            <a:r>
              <a:rPr sz="2800" b="1" dirty="0"/>
              <a:t>Purpose:</a:t>
            </a:r>
          </a:p>
          <a:p>
            <a:r>
              <a:rPr sz="2800" dirty="0"/>
              <a:t>To understand dataset size, structure, and statistical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Missing Value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Code:</a:t>
            </a:r>
          </a:p>
          <a:p>
            <a:r>
              <a:rPr sz="2800" dirty="0" err="1"/>
              <a:t>df.isnull</a:t>
            </a:r>
            <a:r>
              <a:rPr sz="2800" dirty="0"/>
              <a:t>().sum()</a:t>
            </a:r>
          </a:p>
          <a:p>
            <a:endParaRPr sz="2800" dirty="0"/>
          </a:p>
          <a:p>
            <a:r>
              <a:rPr sz="2800" b="1" dirty="0"/>
              <a:t>Purpose:</a:t>
            </a:r>
          </a:p>
          <a:p>
            <a:r>
              <a:rPr sz="2800" dirty="0"/>
              <a:t>Identify missing values in dataset columns.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Selecting Important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 b="1" dirty="0"/>
              <a:t>Code:</a:t>
            </a:r>
          </a:p>
          <a:p>
            <a:r>
              <a:rPr sz="2800" dirty="0" err="1"/>
              <a:t>df</a:t>
            </a:r>
            <a:r>
              <a:rPr sz="2800" dirty="0"/>
              <a:t> = </a:t>
            </a:r>
            <a:r>
              <a:rPr sz="2800" dirty="0" err="1"/>
              <a:t>df</a:t>
            </a:r>
            <a:r>
              <a:rPr sz="2800" dirty="0"/>
              <a:t>[['</a:t>
            </a:r>
            <a:r>
              <a:rPr sz="2800" dirty="0" err="1"/>
              <a:t>text','target</a:t>
            </a:r>
            <a:r>
              <a:rPr sz="2800" dirty="0"/>
              <a:t>']]</a:t>
            </a:r>
          </a:p>
          <a:p>
            <a:endParaRPr sz="2800" dirty="0"/>
          </a:p>
          <a:p>
            <a:r>
              <a:rPr sz="2800" b="1" dirty="0" smtClean="0"/>
              <a:t>Purpose:</a:t>
            </a:r>
            <a:r>
              <a:rPr lang="en-US" sz="2800" dirty="0" smtClean="0"/>
              <a:t> </a:t>
            </a:r>
            <a:r>
              <a:rPr lang="en-US" sz="2800" dirty="0"/>
              <a:t>R</a:t>
            </a:r>
            <a:r>
              <a:rPr lang="en-US" sz="2800" dirty="0" smtClean="0"/>
              <a:t>emove </a:t>
            </a:r>
            <a:r>
              <a:rPr lang="en-US" sz="2800" dirty="0"/>
              <a:t>unnecessary columns and keep only the columns required for the NLP model.</a:t>
            </a:r>
          </a:p>
          <a:p>
            <a:r>
              <a:rPr lang="en-US" sz="2800" dirty="0"/>
              <a:t>text</a:t>
            </a:r>
            <a:r>
              <a:rPr lang="en-US" sz="2800" dirty="0"/>
              <a:t> : Contains tweet content </a:t>
            </a:r>
          </a:p>
          <a:p>
            <a:r>
              <a:rPr lang="en-US" sz="2800" dirty="0"/>
              <a:t>target</a:t>
            </a:r>
            <a:r>
              <a:rPr lang="en-US" sz="2800" dirty="0"/>
              <a:t> : Indicates whether the tweet is related to a disaster or not.</a:t>
            </a:r>
          </a:p>
          <a:p>
            <a:endParaRPr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5734"/>
            <a:ext cx="9143999" cy="4023360"/>
          </a:xfrm>
        </p:spPr>
        <p:txBody>
          <a:bodyPr>
            <a:normAutofit/>
          </a:bodyPr>
          <a:lstStyle/>
          <a:p>
            <a:pPr marL="384048" lvl="2" indent="0" algn="just">
              <a:buNone/>
            </a:pPr>
            <a:r>
              <a:rPr sz="2800" dirty="0"/>
              <a:t>EDA helps understand </a:t>
            </a:r>
            <a:r>
              <a:rPr sz="2800" dirty="0" smtClean="0"/>
              <a:t>the distribution and</a:t>
            </a:r>
            <a:r>
              <a:rPr lang="en-US" sz="2800" dirty="0"/>
              <a:t> </a:t>
            </a:r>
            <a:r>
              <a:rPr lang="en-US" sz="2800" dirty="0" smtClean="0"/>
              <a:t> </a:t>
            </a:r>
            <a:r>
              <a:rPr sz="2800" dirty="0" smtClean="0"/>
              <a:t>patterns </a:t>
            </a:r>
            <a:r>
              <a:rPr sz="2800" dirty="0"/>
              <a:t>in </a:t>
            </a:r>
            <a:endParaRPr lang="en-US" sz="2800" dirty="0" smtClean="0"/>
          </a:p>
          <a:p>
            <a:pPr marL="384048" lvl="2" indent="0" algn="just">
              <a:buNone/>
            </a:pPr>
            <a:r>
              <a:rPr sz="2800" dirty="0" smtClean="0"/>
              <a:t>the </a:t>
            </a:r>
            <a:r>
              <a:rPr sz="2800" dirty="0"/>
              <a:t>dataset </a:t>
            </a:r>
            <a:r>
              <a:rPr sz="2800" dirty="0" smtClean="0"/>
              <a:t>using </a:t>
            </a:r>
            <a:r>
              <a:rPr sz="2800" dirty="0"/>
              <a:t>graphs and </a:t>
            </a:r>
            <a:r>
              <a:rPr sz="2800" dirty="0" smtClean="0"/>
              <a:t>visualizations.</a:t>
            </a:r>
            <a:endParaRPr lang="en-US" sz="2800" dirty="0" smtClean="0"/>
          </a:p>
          <a:p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Target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1" y="1845734"/>
            <a:ext cx="8277860" cy="4023360"/>
          </a:xfrm>
        </p:spPr>
        <p:txBody>
          <a:bodyPr>
            <a:normAutofit lnSpcReduction="10000"/>
          </a:bodyPr>
          <a:lstStyle/>
          <a:p>
            <a:pPr marL="201168" lvl="1" indent="0">
              <a:buNone/>
            </a:pPr>
            <a:r>
              <a:rPr sz="2400" dirty="0"/>
              <a:t>Code:</a:t>
            </a:r>
          </a:p>
          <a:p>
            <a:pPr marL="201168" lvl="1" indent="0">
              <a:buNone/>
            </a:pPr>
            <a:r>
              <a:rPr sz="2400" dirty="0" err="1"/>
              <a:t>sns.countplot</a:t>
            </a:r>
            <a:r>
              <a:rPr sz="2400" dirty="0"/>
              <a:t>(x='target', data=</a:t>
            </a:r>
            <a:r>
              <a:rPr sz="2400" dirty="0" err="1"/>
              <a:t>df</a:t>
            </a:r>
            <a:r>
              <a:rPr sz="2400" dirty="0"/>
              <a:t>)</a:t>
            </a:r>
          </a:p>
          <a:p>
            <a:pPr marL="201168" lvl="1" indent="0">
              <a:buNone/>
            </a:pPr>
            <a:endParaRPr sz="2400" dirty="0"/>
          </a:p>
          <a:p>
            <a:pPr marL="201168" lvl="1" indent="0">
              <a:buNone/>
            </a:pPr>
            <a:r>
              <a:rPr sz="2400" dirty="0"/>
              <a:t>Purpose:</a:t>
            </a:r>
          </a:p>
          <a:p>
            <a:pPr marL="201168" lvl="1" indent="0">
              <a:buNone/>
            </a:pPr>
            <a:r>
              <a:rPr sz="2400" dirty="0"/>
              <a:t>Visualize the number of disaster </a:t>
            </a:r>
            <a:endParaRPr lang="en-US" sz="2400" dirty="0" smtClean="0"/>
          </a:p>
          <a:p>
            <a:pPr marL="201168" lvl="1" indent="0">
              <a:buNone/>
            </a:pPr>
            <a:r>
              <a:rPr sz="2400" dirty="0" smtClean="0"/>
              <a:t>and </a:t>
            </a:r>
            <a:r>
              <a:rPr sz="2400" dirty="0"/>
              <a:t>non‑disaster tweets</a:t>
            </a:r>
            <a:r>
              <a:rPr sz="2400" dirty="0" smtClean="0"/>
              <a:t>.</a:t>
            </a:r>
            <a:endParaRPr lang="en-US" sz="2400" dirty="0" smtClean="0"/>
          </a:p>
          <a:p>
            <a:pPr marL="201168" lvl="1" indent="0">
              <a:buNone/>
            </a:pPr>
            <a:r>
              <a:rPr lang="en-US" sz="2400" dirty="0"/>
              <a:t>The graph shows the number </a:t>
            </a:r>
            <a:endParaRPr lang="en-US" sz="2400" dirty="0" smtClean="0"/>
          </a:p>
          <a:p>
            <a:pPr marL="201168" lvl="1" indent="0">
              <a:buNone/>
            </a:pPr>
            <a:r>
              <a:rPr lang="en-US" sz="2400" dirty="0" smtClean="0"/>
              <a:t>of </a:t>
            </a:r>
            <a:r>
              <a:rPr lang="en-US" sz="2400" dirty="0"/>
              <a:t>tweets labeled as:</a:t>
            </a:r>
          </a:p>
          <a:p>
            <a:pPr marL="201168" lvl="1" indent="0">
              <a:buNone/>
            </a:pPr>
            <a:r>
              <a:rPr lang="en-US" sz="2400" dirty="0"/>
              <a:t>1 → Disaster Tweet</a:t>
            </a:r>
            <a:br>
              <a:rPr lang="en-US" sz="2400" dirty="0"/>
            </a:br>
            <a:r>
              <a:rPr lang="en-US" sz="2400" dirty="0"/>
              <a:t>0 → Non Disaster Tweet</a:t>
            </a:r>
          </a:p>
          <a:p>
            <a:endParaRPr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08" y="1737360"/>
            <a:ext cx="4473692" cy="41317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Tweet Length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/>
              <a:t>Code:</a:t>
            </a:r>
          </a:p>
          <a:p>
            <a:r>
              <a:rPr dirty="0" err="1"/>
              <a:t>df</a:t>
            </a:r>
            <a:r>
              <a:rPr dirty="0"/>
              <a:t>['length'] = </a:t>
            </a:r>
            <a:r>
              <a:rPr dirty="0" err="1"/>
              <a:t>df</a:t>
            </a:r>
            <a:r>
              <a:rPr dirty="0"/>
              <a:t>['text'].apply(</a:t>
            </a:r>
            <a:r>
              <a:rPr dirty="0" err="1"/>
              <a:t>len</a:t>
            </a:r>
            <a:r>
              <a:rPr dirty="0"/>
              <a:t>)</a:t>
            </a:r>
          </a:p>
          <a:p>
            <a:endParaRPr dirty="0"/>
          </a:p>
          <a:p>
            <a:r>
              <a:rPr b="1" dirty="0"/>
              <a:t>Purpose:</a:t>
            </a:r>
          </a:p>
          <a:p>
            <a:r>
              <a:rPr dirty="0"/>
              <a:t>Analyze how tweet length </a:t>
            </a:r>
            <a:r>
              <a:rPr dirty="0" smtClean="0"/>
              <a:t>varies</a:t>
            </a:r>
            <a:endParaRPr lang="en-US" dirty="0" smtClean="0"/>
          </a:p>
          <a:p>
            <a:r>
              <a:rPr dirty="0" smtClean="0"/>
              <a:t> </a:t>
            </a:r>
            <a:r>
              <a:rPr dirty="0"/>
              <a:t>across the dataset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The histogram shows how </a:t>
            </a:r>
            <a:r>
              <a:rPr lang="en-US" dirty="0" smtClean="0"/>
              <a:t>tweet</a:t>
            </a:r>
          </a:p>
          <a:p>
            <a:r>
              <a:rPr lang="en-US" dirty="0" smtClean="0"/>
              <a:t> </a:t>
            </a:r>
            <a:r>
              <a:rPr lang="en-US" dirty="0"/>
              <a:t>lengths are distributed in </a:t>
            </a:r>
            <a:r>
              <a:rPr lang="en-US" dirty="0" smtClean="0"/>
              <a:t>the</a:t>
            </a:r>
          </a:p>
          <a:p>
            <a:r>
              <a:rPr lang="en-US" dirty="0" smtClean="0"/>
              <a:t> </a:t>
            </a:r>
            <a:r>
              <a:rPr lang="en-US" dirty="0"/>
              <a:t>dataset. Most tweets fall </a:t>
            </a:r>
            <a:r>
              <a:rPr lang="en-US" dirty="0" smtClean="0"/>
              <a:t>within</a:t>
            </a:r>
          </a:p>
          <a:p>
            <a:r>
              <a:rPr lang="en-US" dirty="0" smtClean="0"/>
              <a:t> </a:t>
            </a:r>
            <a:r>
              <a:rPr lang="en-US" dirty="0"/>
              <a:t>a certain length range.</a:t>
            </a:r>
            <a:endParaRPr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825" y="3425825"/>
            <a:ext cx="6350" cy="6350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825" y="1845734"/>
            <a:ext cx="4565885" cy="44198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WordCloud</a:t>
            </a:r>
            <a:r>
              <a:rPr b="1" dirty="0"/>
              <a:t>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499" y="1845734"/>
            <a:ext cx="8445501" cy="4023360"/>
          </a:xfrm>
        </p:spPr>
        <p:txBody>
          <a:bodyPr>
            <a:normAutofit/>
          </a:bodyPr>
          <a:lstStyle/>
          <a:p>
            <a:r>
              <a:rPr sz="2800" dirty="0" err="1"/>
              <a:t>WordCloud</a:t>
            </a:r>
            <a:r>
              <a:rPr sz="2800" dirty="0"/>
              <a:t> is used to visualize the most frequent </a:t>
            </a:r>
            <a:r>
              <a:rPr sz="2800" dirty="0" smtClean="0"/>
              <a:t>wor</a:t>
            </a:r>
            <a:r>
              <a:rPr lang="en-US" sz="2800" dirty="0" smtClean="0"/>
              <a:t>ds </a:t>
            </a:r>
            <a:r>
              <a:rPr lang="en-US" sz="2800" dirty="0"/>
              <a:t>appearing in </a:t>
            </a:r>
            <a:r>
              <a:rPr lang="en-US" sz="2800" dirty="0" smtClean="0"/>
              <a:t>tweets.</a:t>
            </a:r>
          </a:p>
          <a:p>
            <a:r>
              <a:rPr lang="en-US" sz="2800" b="1" dirty="0" err="1"/>
              <a:t>WordCloud</a:t>
            </a:r>
            <a:r>
              <a:rPr lang="en-US" sz="2800" b="1" dirty="0"/>
              <a:t> for Non-Disaster Tweets</a:t>
            </a:r>
          </a:p>
          <a:p>
            <a:r>
              <a:rPr lang="en-US" sz="2800" dirty="0"/>
              <a:t>This visualization highlights the most frequently used words in tweets that are not related to disasters.</a:t>
            </a:r>
          </a:p>
          <a:p>
            <a:r>
              <a:rPr lang="en-US" sz="2800" b="1" dirty="0" smtClean="0"/>
              <a:t> </a:t>
            </a:r>
            <a:r>
              <a:rPr lang="en-US" sz="2800" b="1" dirty="0" err="1"/>
              <a:t>WordCloud</a:t>
            </a:r>
            <a:r>
              <a:rPr lang="en-US" sz="2800" b="1" dirty="0"/>
              <a:t> for Disaster Tweets</a:t>
            </a:r>
          </a:p>
          <a:p>
            <a:r>
              <a:rPr lang="en-US" sz="2800" dirty="0"/>
              <a:t>This visualization highlights the most frequently used words in tweets related to disasters</a:t>
            </a:r>
          </a:p>
          <a:p>
            <a:endParaRPr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Text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/>
              <a:t>Common preprocessing steps:</a:t>
            </a:r>
          </a:p>
          <a:p>
            <a:r>
              <a:rPr sz="2400" dirty="0"/>
              <a:t>• Convert text to lowercase</a:t>
            </a:r>
          </a:p>
          <a:p>
            <a:r>
              <a:rPr sz="2400" dirty="0"/>
              <a:t>• Remove URLs</a:t>
            </a:r>
          </a:p>
          <a:p>
            <a:r>
              <a:rPr sz="2400" dirty="0"/>
              <a:t>• Remove special characters</a:t>
            </a:r>
          </a:p>
          <a:p>
            <a:r>
              <a:rPr sz="2400" dirty="0"/>
              <a:t>• Remove unnecessary symbols</a:t>
            </a:r>
          </a:p>
          <a:p>
            <a:endParaRPr sz="2400" dirty="0"/>
          </a:p>
          <a:p>
            <a:r>
              <a:rPr sz="2400" b="1" dirty="0"/>
              <a:t>Purpose: </a:t>
            </a:r>
            <a:r>
              <a:rPr lang="en-US" sz="2400" dirty="0"/>
              <a:t>In this step we clean the text to improve the performance of the machine learning </a:t>
            </a:r>
            <a:r>
              <a:rPr lang="en-US" sz="2400" dirty="0" smtClean="0"/>
              <a:t>model.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286604"/>
            <a:ext cx="7934960" cy="1450757"/>
          </a:xfrm>
        </p:spPr>
        <p:txBody>
          <a:bodyPr>
            <a:noAutofit/>
          </a:bodyPr>
          <a:lstStyle/>
          <a:p>
            <a:r>
              <a:rPr sz="5400" b="1" dirty="0"/>
              <a:t>Feature Engineering </a:t>
            </a:r>
            <a:r>
              <a:rPr sz="5400" b="1" dirty="0" smtClean="0"/>
              <a:t>–TF‑IDF</a:t>
            </a:r>
            <a:endParaRPr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Code:</a:t>
            </a:r>
          </a:p>
          <a:p>
            <a:r>
              <a:rPr sz="2800" dirty="0" err="1"/>
              <a:t>tfidf</a:t>
            </a:r>
            <a:r>
              <a:rPr sz="2800" dirty="0"/>
              <a:t> = </a:t>
            </a:r>
            <a:r>
              <a:rPr sz="2800" dirty="0" err="1"/>
              <a:t>TfidfVectorizer</a:t>
            </a:r>
            <a:r>
              <a:rPr sz="2800" dirty="0"/>
              <a:t>(</a:t>
            </a:r>
            <a:r>
              <a:rPr sz="2800" dirty="0" err="1"/>
              <a:t>max_features</a:t>
            </a:r>
            <a:r>
              <a:rPr sz="2800" dirty="0"/>
              <a:t>=5000)</a:t>
            </a:r>
          </a:p>
          <a:p>
            <a:endParaRPr sz="2800" dirty="0"/>
          </a:p>
          <a:p>
            <a:r>
              <a:rPr sz="2800" b="1" dirty="0"/>
              <a:t>Purpose</a:t>
            </a:r>
            <a:r>
              <a:rPr sz="2800" b="1" dirty="0" smtClean="0"/>
              <a:t>:</a:t>
            </a:r>
            <a:endParaRPr lang="en-US" sz="2800" b="1" dirty="0" smtClean="0"/>
          </a:p>
          <a:p>
            <a:r>
              <a:rPr lang="en-US" sz="2800" dirty="0"/>
              <a:t>TF-IDF converts textual data into numerical features so that machine learning models can understand the text.</a:t>
            </a:r>
            <a:endParaRPr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Train 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Code:</a:t>
            </a:r>
          </a:p>
          <a:p>
            <a:r>
              <a:rPr sz="2800" dirty="0" err="1"/>
              <a:t>train_test_split</a:t>
            </a:r>
            <a:r>
              <a:rPr sz="2800" dirty="0"/>
              <a:t>(X, y, </a:t>
            </a:r>
            <a:r>
              <a:rPr sz="2800" dirty="0" err="1"/>
              <a:t>test_size</a:t>
            </a:r>
            <a:r>
              <a:rPr sz="2800" dirty="0"/>
              <a:t>=0.2)</a:t>
            </a:r>
          </a:p>
          <a:p>
            <a:endParaRPr sz="2800" dirty="0"/>
          </a:p>
          <a:p>
            <a:r>
              <a:rPr sz="2800" b="1" dirty="0"/>
              <a:t>Purpose:</a:t>
            </a:r>
          </a:p>
          <a:p>
            <a:r>
              <a:rPr sz="2800" dirty="0"/>
              <a:t>Split data into training (80%) and testing (20%) datasets.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58434"/>
            <a:ext cx="7543801" cy="4023360"/>
          </a:xfrm>
        </p:spPr>
        <p:txBody>
          <a:bodyPr>
            <a:noAutofit/>
          </a:bodyPr>
          <a:lstStyle/>
          <a:p>
            <a:r>
              <a:rPr sz="2800" b="1" dirty="0"/>
              <a:t>Algorithm Used</a:t>
            </a:r>
            <a:r>
              <a:rPr sz="2800" dirty="0"/>
              <a:t>: Logistic Regression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sz="2800" b="1" dirty="0" smtClean="0"/>
              <a:t>Code</a:t>
            </a:r>
            <a:r>
              <a:rPr sz="2800" b="1" dirty="0"/>
              <a:t>:</a:t>
            </a:r>
          </a:p>
          <a:p>
            <a:r>
              <a:rPr sz="2800" dirty="0" err="1"/>
              <a:t>model.fit</a:t>
            </a:r>
            <a:r>
              <a:rPr sz="2800" dirty="0"/>
              <a:t>(</a:t>
            </a:r>
            <a:r>
              <a:rPr sz="2800" dirty="0" err="1"/>
              <a:t>X_train</a:t>
            </a:r>
            <a:r>
              <a:rPr sz="2800" dirty="0"/>
              <a:t>, </a:t>
            </a:r>
            <a:r>
              <a:rPr sz="2800" dirty="0" err="1"/>
              <a:t>y_train</a:t>
            </a:r>
            <a:r>
              <a:rPr sz="2800" dirty="0"/>
              <a:t>)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sz="2800" b="1" dirty="0" smtClean="0"/>
              <a:t>Purpose:</a:t>
            </a:r>
            <a:endParaRPr lang="en-US" sz="2800" b="1" dirty="0" smtClean="0"/>
          </a:p>
          <a:p>
            <a:pPr marL="0" indent="0">
              <a:buNone/>
            </a:pPr>
            <a:r>
              <a:rPr lang="en-US" sz="2800" dirty="0" smtClean="0"/>
              <a:t> Train </a:t>
            </a:r>
            <a:r>
              <a:rPr lang="en-US" sz="2800" dirty="0"/>
              <a:t>a </a:t>
            </a:r>
            <a:r>
              <a:rPr lang="en-US" sz="2800" dirty="0"/>
              <a:t>Logistic Regression</a:t>
            </a:r>
            <a:r>
              <a:rPr lang="en-US" sz="2800" dirty="0"/>
              <a:t> model to classify tweets </a:t>
            </a:r>
            <a:r>
              <a:rPr lang="en-US" sz="2800" dirty="0" smtClean="0"/>
              <a:t>                      </a:t>
            </a:r>
            <a:r>
              <a:rPr lang="en-US" sz="2800" dirty="0"/>
              <a:t>  </a:t>
            </a:r>
            <a:r>
              <a:rPr lang="en-US" sz="2800" dirty="0" smtClean="0"/>
              <a:t>into </a:t>
            </a:r>
            <a:r>
              <a:rPr lang="en-US" sz="2800" dirty="0"/>
              <a:t>disaster and non-disaster categories.</a:t>
            </a:r>
            <a:endParaRPr sz="28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Evaluation Metrics:</a:t>
            </a:r>
          </a:p>
          <a:p>
            <a:r>
              <a:rPr sz="2800" dirty="0"/>
              <a:t>• Accuracy Score</a:t>
            </a:r>
          </a:p>
          <a:p>
            <a:r>
              <a:rPr sz="2800" dirty="0"/>
              <a:t>• Classification Report</a:t>
            </a:r>
          </a:p>
          <a:p>
            <a:r>
              <a:rPr sz="2800" dirty="0"/>
              <a:t>• Confusion Matrix</a:t>
            </a:r>
          </a:p>
          <a:p>
            <a:endParaRPr sz="2800" dirty="0"/>
          </a:p>
          <a:p>
            <a:r>
              <a:rPr sz="2800" b="1" dirty="0"/>
              <a:t>Purpose:</a:t>
            </a:r>
          </a:p>
          <a:p>
            <a:r>
              <a:rPr sz="2800" dirty="0"/>
              <a:t>Measure the performance of the trained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Code:</a:t>
            </a:r>
          </a:p>
          <a:p>
            <a:r>
              <a:rPr sz="2800" dirty="0" err="1"/>
              <a:t>pickle.dump</a:t>
            </a:r>
            <a:r>
              <a:rPr sz="2800" dirty="0"/>
              <a:t>(model, open('disaster_model.</a:t>
            </a:r>
            <a:r>
              <a:rPr sz="2800" dirty="0" err="1"/>
              <a:t>pkl</a:t>
            </a:r>
            <a:r>
              <a:rPr sz="2800" dirty="0"/>
              <a:t>','</a:t>
            </a:r>
            <a:r>
              <a:rPr sz="2800" dirty="0" err="1"/>
              <a:t>wb</a:t>
            </a:r>
            <a:r>
              <a:rPr sz="2800" dirty="0"/>
              <a:t>'))</a:t>
            </a:r>
          </a:p>
          <a:p>
            <a:endParaRPr sz="2800" dirty="0"/>
          </a:p>
          <a:p>
            <a:r>
              <a:rPr sz="2800" b="1" dirty="0"/>
              <a:t>Purpose:</a:t>
            </a:r>
          </a:p>
          <a:p>
            <a:r>
              <a:rPr sz="2800" dirty="0"/>
              <a:t>Save the trained model and </a:t>
            </a:r>
            <a:r>
              <a:rPr sz="2800" dirty="0" err="1"/>
              <a:t>vectorizer</a:t>
            </a:r>
            <a:r>
              <a:rPr sz="2800" dirty="0"/>
              <a:t> so they can be reused in the web application.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Flask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1" y="1845734"/>
            <a:ext cx="7518399" cy="4023360"/>
          </a:xfrm>
        </p:spPr>
        <p:txBody>
          <a:bodyPr>
            <a:normAutofit fontScale="70000" lnSpcReduction="20000"/>
          </a:bodyPr>
          <a:lstStyle/>
          <a:p>
            <a:r>
              <a:rPr sz="2800" dirty="0"/>
              <a:t>A Flask web </a:t>
            </a:r>
            <a:r>
              <a:rPr sz="2800" dirty="0" smtClean="0"/>
              <a:t>application</a:t>
            </a:r>
            <a:r>
              <a:rPr lang="en-US" sz="2800" dirty="0" smtClean="0"/>
              <a:t> </a:t>
            </a:r>
          </a:p>
          <a:p>
            <a:r>
              <a:rPr sz="2800" dirty="0" smtClean="0"/>
              <a:t>was </a:t>
            </a:r>
            <a:r>
              <a:rPr sz="2800" dirty="0"/>
              <a:t>created where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sz="2800" dirty="0" smtClean="0"/>
              <a:t>users </a:t>
            </a:r>
            <a:r>
              <a:rPr sz="2800" dirty="0"/>
              <a:t>can enter a </a:t>
            </a:r>
            <a:endParaRPr lang="en-US" sz="2800" dirty="0" smtClean="0"/>
          </a:p>
          <a:p>
            <a:r>
              <a:rPr sz="2800" dirty="0" smtClean="0"/>
              <a:t>tweet </a:t>
            </a:r>
            <a:r>
              <a:rPr sz="2800" dirty="0"/>
              <a:t>and the </a:t>
            </a:r>
            <a:r>
              <a:rPr sz="2800" dirty="0" smtClean="0"/>
              <a:t>model</a:t>
            </a:r>
            <a:endParaRPr lang="en-US" sz="2800" dirty="0" smtClean="0"/>
          </a:p>
          <a:p>
            <a:r>
              <a:rPr sz="2800" dirty="0" smtClean="0"/>
              <a:t>predicts </a:t>
            </a:r>
            <a:r>
              <a:rPr sz="2800" dirty="0"/>
              <a:t>whether it </a:t>
            </a:r>
            <a:endParaRPr lang="en-US" sz="2800" dirty="0" smtClean="0"/>
          </a:p>
          <a:p>
            <a:r>
              <a:rPr sz="2800" dirty="0" smtClean="0"/>
              <a:t>is </a:t>
            </a:r>
            <a:r>
              <a:rPr sz="2800" dirty="0"/>
              <a:t>a disaster tweet </a:t>
            </a:r>
            <a:r>
              <a:rPr sz="2800" dirty="0" smtClean="0"/>
              <a:t>or</a:t>
            </a:r>
            <a:r>
              <a:rPr lang="en-US" sz="2800" dirty="0"/>
              <a:t> </a:t>
            </a:r>
            <a:endParaRPr lang="en-US" sz="2800" dirty="0" smtClean="0"/>
          </a:p>
          <a:p>
            <a:r>
              <a:rPr sz="2800" dirty="0" smtClean="0"/>
              <a:t>not</a:t>
            </a:r>
            <a:r>
              <a:rPr sz="2800" dirty="0"/>
              <a:t>.</a:t>
            </a:r>
          </a:p>
          <a:p>
            <a:endParaRPr sz="2800" dirty="0"/>
          </a:p>
          <a:p>
            <a:endParaRPr lang="en-US" sz="2800" b="1" dirty="0" smtClean="0"/>
          </a:p>
          <a:p>
            <a:r>
              <a:rPr sz="2800" b="1" dirty="0" smtClean="0"/>
              <a:t>User </a:t>
            </a:r>
            <a:r>
              <a:rPr sz="2800" b="1" dirty="0"/>
              <a:t>Input → TF‑IDF </a:t>
            </a:r>
            <a:r>
              <a:rPr sz="2800" b="1" dirty="0" err="1"/>
              <a:t>Vectorizer</a:t>
            </a:r>
            <a:r>
              <a:rPr sz="2800" b="1" dirty="0"/>
              <a:t> → ML Model → Prediction Output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0" y="1845734"/>
            <a:ext cx="5270500" cy="29582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sz="2800" dirty="0"/>
              <a:t>In this project we successfully developed a machine learning model that can classify tweets as disaster or non-disaster.</a:t>
            </a:r>
          </a:p>
          <a:p>
            <a:r>
              <a:rPr lang="en-US" sz="2800" dirty="0"/>
              <a:t>The model was trained using </a:t>
            </a:r>
            <a:r>
              <a:rPr lang="en-US" sz="2800" dirty="0"/>
              <a:t>TF-IDF</a:t>
            </a:r>
            <a:r>
              <a:rPr lang="en-US" sz="2800" dirty="0"/>
              <a:t> features and </a:t>
            </a:r>
            <a:r>
              <a:rPr lang="en-US" sz="2800" dirty="0"/>
              <a:t>Logistic Regression</a:t>
            </a:r>
            <a:r>
              <a:rPr lang="en-US" sz="2800" dirty="0"/>
              <a:t> algorithm.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253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</TotalTime>
  <Words>687</Words>
  <Application>Microsoft Office PowerPoint</Application>
  <PresentationFormat>On-screen Show (4:3)</PresentationFormat>
  <Paragraphs>147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Calibri Light</vt:lpstr>
      <vt:lpstr>Retrospect</vt:lpstr>
      <vt:lpstr>Disaster Tweet Classification Using NLP</vt:lpstr>
      <vt:lpstr>Problem Statement</vt:lpstr>
      <vt:lpstr>Project Objective</vt:lpstr>
      <vt:lpstr>Dataset Overview</vt:lpstr>
      <vt:lpstr>Libraries Used</vt:lpstr>
      <vt:lpstr>Loading the Dataset</vt:lpstr>
      <vt:lpstr>Understanding the Dataset</vt:lpstr>
      <vt:lpstr>Missing Value Analysis</vt:lpstr>
      <vt:lpstr>Selecting Important Columns</vt:lpstr>
      <vt:lpstr>Exploratory Data Analysis (EDA)</vt:lpstr>
      <vt:lpstr>Target Distribution</vt:lpstr>
      <vt:lpstr>Tweet Length Analysis</vt:lpstr>
      <vt:lpstr>WordCloud Visualization</vt:lpstr>
      <vt:lpstr>Text Cleaning</vt:lpstr>
      <vt:lpstr>Feature Engineering –TF‑IDF</vt:lpstr>
      <vt:lpstr>Train Test Split</vt:lpstr>
      <vt:lpstr>Model Training</vt:lpstr>
      <vt:lpstr>Model Evaluation</vt:lpstr>
      <vt:lpstr>Model Serialization</vt:lpstr>
      <vt:lpstr>Flask Web Application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Tweet Classification Using NLP</dc:title>
  <dc:subject/>
  <dc:creator/>
  <cp:keywords/>
  <dc:description>generated using python-pptx</dc:description>
  <cp:lastModifiedBy>punam</cp:lastModifiedBy>
  <cp:revision>6</cp:revision>
  <dcterms:created xsi:type="dcterms:W3CDTF">2013-01-27T09:14:16Z</dcterms:created>
  <dcterms:modified xsi:type="dcterms:W3CDTF">2026-03-15T10:34:32Z</dcterms:modified>
  <cp:category/>
</cp:coreProperties>
</file>